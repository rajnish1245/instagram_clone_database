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966960" y="-320040"/>
            <a:ext cx="2011680" cy="2011680"/>
          </a:xfrm>
          <a:prstGeom prst="ellipse">
            <a:avLst/>
          </a:prstGeom>
          <a:solidFill>
            <a:srgbClr val="825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652760" y="320040"/>
            <a:ext cx="1280160" cy="1280160"/>
          </a:xfrm>
          <a:prstGeom prst="ellipse">
            <a:avLst/>
          </a:prstGeom>
          <a:solidFill>
            <a:srgbClr val="E146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320040" y="5349240"/>
            <a:ext cx="1737360" cy="1737360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051560"/>
            <a:ext cx="107899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800" b="1">
                <a:solidFill>
                  <a:srgbClr val="111B35"/>
                </a:solidFill>
                <a:latin typeface="Aptos"/>
              </a:defRPr>
            </a:pPr>
            <a:r>
              <a:t>INSTAGRAM CLONE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810512"/>
            <a:ext cx="10241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4285F4"/>
                </a:solidFill>
                <a:latin typeface="Aptos"/>
              </a:defRPr>
            </a:pPr>
            <a:r>
              <a:t>SQL DATABASE DESIGN &amp; ANALYTICS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450592"/>
            <a:ext cx="98755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232B3C"/>
                </a:solidFill>
                <a:latin typeface="Aptos"/>
              </a:defRPr>
            </a:pPr>
            <a:r>
              <a:t>A relational database built in MySQL to model users, photos, likes, comments, follows and hashtags — followed by analytical SQL challenges.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3310128"/>
            <a:ext cx="4389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657084"/>
                </a:solidFill>
                <a:latin typeface="Aptos"/>
              </a:defRPr>
            </a:pPr>
            <a:r>
              <a:t>TECH STACK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3675887"/>
            <a:ext cx="8046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11B35"/>
                </a:solidFill>
                <a:latin typeface="Aptos"/>
              </a:defRPr>
            </a:pPr>
            <a:r>
              <a:t>MySQL  •  ER Modeling  •  Joins  •  Aggregations  •  Subqueries  •  HAVING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4956048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8250DC"/>
                </a:solidFill>
                <a:latin typeface="Aptos"/>
              </a:defRPr>
            </a:pPr>
            <a:r>
              <a:t>SQL Portfolio Project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5321808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657084"/>
                </a:solidFill>
                <a:latin typeface="Aptos"/>
              </a:defRPr>
            </a:pPr>
            <a:r>
              <a:t>Prepared for professional / portfolio presentation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6144768"/>
            <a:ext cx="4114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1">
                <a:solidFill>
                  <a:srgbClr val="657084"/>
                </a:solidFill>
                <a:latin typeface="Aptos"/>
              </a:defRPr>
            </a:pPr>
            <a:r>
              <a:t>Rajnish Singh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0" y="6473952"/>
            <a:ext cx="777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57084"/>
                </a:solidFill>
                <a:latin typeface="Aptos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11B35"/>
                </a:solidFill>
                <a:latin typeface="Aptos Display"/>
              </a:defRPr>
            </a:pPr>
            <a:r>
              <a:t>Project Objective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86384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57084"/>
                </a:solidFill>
                <a:latin typeface="Aptos"/>
              </a:defRPr>
            </a:pPr>
            <a:r>
              <a:t>Translate a social-media workflow into a structured relational database and solve business-style SQL questions.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234440"/>
            <a:ext cx="352044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A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234440"/>
            <a:ext cx="64008" cy="18288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362456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11B35"/>
                </a:solidFill>
                <a:latin typeface="Aptos"/>
              </a:defRPr>
            </a:pPr>
            <a:r>
              <a:t>01  Model the platform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64792"/>
            <a:ext cx="3200400" cy="12070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32B3C"/>
                </a:solidFill>
                <a:latin typeface="Aptos"/>
              </a:defRPr>
            </a:pPr>
            <a:r>
              <a:t>Design normalized tables for users, content, engagement, relationships and hashtags with PK/FK constraints.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234440"/>
            <a:ext cx="352044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A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234440"/>
            <a:ext cx="64008" cy="1828800"/>
          </a:xfrm>
          <a:prstGeom prst="rect">
            <a:avLst/>
          </a:prstGeom>
          <a:solidFill>
            <a:srgbClr val="825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1362456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11B35"/>
                </a:solidFill>
                <a:latin typeface="Aptos"/>
              </a:defRPr>
            </a:pPr>
            <a:r>
              <a:t>02  Load realistic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1764792"/>
            <a:ext cx="3200400" cy="12070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32B3C"/>
                </a:solidFill>
                <a:latin typeface="Aptos"/>
              </a:defRPr>
            </a:pPr>
            <a:r>
              <a:t>Populate the schema with synthetic users, photos, comments, likes, follows, tags and photo-tag mappings.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234440"/>
            <a:ext cx="352044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A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1234440"/>
            <a:ext cx="64008" cy="1828800"/>
          </a:xfrm>
          <a:prstGeom prst="rect">
            <a:avLst/>
          </a:prstGeom>
          <a:solidFill>
            <a:srgbClr val="E146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1362456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11B35"/>
                </a:solidFill>
                <a:latin typeface="Aptos"/>
              </a:defRPr>
            </a:pPr>
            <a:r>
              <a:t>03  Analyze behavior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1764792"/>
            <a:ext cx="3200400" cy="12070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32B3C"/>
                </a:solidFill>
                <a:latin typeface="Aptos"/>
              </a:defRPr>
            </a:pPr>
            <a:r>
              <a:t>Answer practical questions around posting activity, engagement, inactive users, hashtags and suspicious behavior.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3456432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657084"/>
                </a:solidFill>
                <a:latin typeface="Aptos"/>
              </a:defRPr>
            </a:pPr>
            <a:r>
              <a:t>CORE SQL CAPABILITIES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384048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232B3C"/>
                </a:solidFill>
                <a:latin typeface="Aptos"/>
              </a:defRPr>
            </a:pPr>
            <a:r>
              <a:t>• Relational schema design and referential integrity</a:t>
            </a:r>
          </a:p>
          <a:p>
            <a:pPr>
              <a:spcAft>
                <a:spcPts val="800"/>
              </a:spcAft>
              <a:defRPr sz="1300">
                <a:solidFill>
                  <a:srgbClr val="232B3C"/>
                </a:solidFill>
                <a:latin typeface="Aptos"/>
              </a:defRPr>
            </a:pPr>
            <a:r>
              <a:t>• INNER / LEFT JOIN patterns</a:t>
            </a:r>
          </a:p>
          <a:p>
            <a:pPr>
              <a:spcAft>
                <a:spcPts val="800"/>
              </a:spcAft>
              <a:defRPr sz="1300">
                <a:solidFill>
                  <a:srgbClr val="232B3C"/>
                </a:solidFill>
                <a:latin typeface="Aptos"/>
              </a:defRPr>
            </a:pPr>
            <a:r>
              <a:t>• GROUP BY, aggregate functions and HAVING</a:t>
            </a:r>
          </a:p>
          <a:p>
            <a:pPr>
              <a:spcAft>
                <a:spcPts val="800"/>
              </a:spcAft>
              <a:defRPr sz="1300">
                <a:solidFill>
                  <a:srgbClr val="232B3C"/>
                </a:solidFill>
                <a:latin typeface="Aptos"/>
              </a:defRPr>
            </a:pPr>
            <a:r>
              <a:t>• Subqueries and derived tables</a:t>
            </a:r>
          </a:p>
          <a:p>
            <a:pPr>
              <a:spcAft>
                <a:spcPts val="800"/>
              </a:spcAft>
              <a:defRPr sz="1300">
                <a:solidFill>
                  <a:srgbClr val="232B3C"/>
                </a:solidFill>
                <a:latin typeface="Aptos"/>
              </a:defRPr>
            </a:pPr>
            <a:r>
              <a:t>• Date / day-of-week analysis</a:t>
            </a:r>
          </a:p>
          <a:p>
            <a:pPr>
              <a:spcAft>
                <a:spcPts val="800"/>
              </a:spcAft>
              <a:defRPr sz="1300">
                <a:solidFill>
                  <a:srgbClr val="232B3C"/>
                </a:solidFill>
                <a:latin typeface="Aptos"/>
              </a:defRPr>
            </a:pPr>
            <a:r>
              <a:t>• Business-question driven SQL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3520440"/>
            <a:ext cx="544068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A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72200" y="3520440"/>
            <a:ext cx="64008" cy="2057400"/>
          </a:xfrm>
          <a:prstGeom prst="rect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5080" y="3648456"/>
            <a:ext cx="5120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11B35"/>
                </a:solidFill>
                <a:latin typeface="Aptos"/>
              </a:defRPr>
            </a:pPr>
            <a:r>
              <a:t>Project flow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4050791"/>
            <a:ext cx="5120640" cy="14356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232B3C"/>
                </a:solidFill>
                <a:latin typeface="Aptos"/>
              </a:defRPr>
            </a:pPr>
            <a:r>
              <a:t>Schema → Data loading → Relationship validation → Analytical queries → Business interpretation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81360" y="6473952"/>
            <a:ext cx="777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57084"/>
                </a:solidFill>
                <a:latin typeface="Aptos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" name="Rectangle 6"/>
          <p:cNvSpPr/>
          <p:nvPr/>
        </p:nvSpPr>
        <p:spPr>
          <a:xfrm>
            <a:off x="475488" y="1207008"/>
            <a:ext cx="11256264" cy="5440680"/>
          </a:xfrm>
          <a:prstGeom prst="rect">
            <a:avLst/>
          </a:prstGeom>
          <a:noFill/>
          <a:ln w="12700">
            <a:solidFill>
              <a:srgbClr val="E5EA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825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11B35"/>
                </a:solidFill>
                <a:latin typeface="Aptos Display"/>
              </a:defRPr>
            </a:pPr>
            <a:r>
              <a:t>Database Architecture &amp; ER Diagram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86384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57084"/>
                </a:solidFill>
                <a:latin typeface="Aptos"/>
              </a:defRPr>
            </a:pPr>
            <a:r>
              <a:t>The schema connects core entities through foreign keys and junction tables.</a:t>
            </a:r>
          </a:p>
        </p:txBody>
      </p:sp>
      <p:pic>
        <p:nvPicPr>
          <p:cNvPr id="6" name="Picture 5" descr="a_clean_infographic_er_diagram_poster_about_an_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34440"/>
            <a:ext cx="11201400" cy="7467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881360" y="6473952"/>
            <a:ext cx="777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57084"/>
                </a:solidFill>
                <a:latin typeface="Aptos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11B35"/>
                </a:solidFill>
                <a:latin typeface="Aptos Display"/>
              </a:defRPr>
            </a:pPr>
            <a:r>
              <a:t>Relational Schema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86384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57084"/>
                </a:solidFill>
                <a:latin typeface="Aptos"/>
              </a:defRPr>
            </a:pPr>
            <a:r>
              <a:t>Seven tables form the core Instagram Clone data model.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234440"/>
            <a:ext cx="315468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A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234440"/>
            <a:ext cx="64008" cy="16002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362456"/>
            <a:ext cx="2834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11B35"/>
                </a:solidFill>
                <a:latin typeface="Aptos"/>
              </a:defRPr>
            </a:pPr>
            <a:r>
              <a:t>users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64792"/>
            <a:ext cx="2834640" cy="9784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80" b="0">
                <a:solidFill>
                  <a:srgbClr val="232B3C"/>
                </a:solidFill>
                <a:latin typeface="Aptos"/>
              </a:defRPr>
            </a:pPr>
            <a:r>
              <a:t>PK id</a:t>
            </a:r>
            <a:br/>
            <a:r>
              <a:t>username</a:t>
            </a:r>
            <a:br/>
            <a:r>
              <a:t>created_at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96512" y="1234440"/>
            <a:ext cx="315468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A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096512" y="1234440"/>
            <a:ext cx="64008" cy="1600200"/>
          </a:xfrm>
          <a:prstGeom prst="rect">
            <a:avLst/>
          </a:prstGeom>
          <a:solidFill>
            <a:srgbClr val="2DA0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79392" y="1362456"/>
            <a:ext cx="2834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11B35"/>
                </a:solidFill>
                <a:latin typeface="Aptos"/>
              </a:defRPr>
            </a:pPr>
            <a:r>
              <a:t>photos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79392" y="1764792"/>
            <a:ext cx="2834640" cy="9784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80" b="0">
                <a:solidFill>
                  <a:srgbClr val="232B3C"/>
                </a:solidFill>
                <a:latin typeface="Aptos"/>
              </a:defRPr>
            </a:pPr>
            <a:r>
              <a:t>PK id</a:t>
            </a:r>
            <a:br/>
            <a:r>
              <a:t>image_url</a:t>
            </a:r>
            <a:br/>
            <a:r>
              <a:t>FK user_id</a:t>
            </a:r>
            <a:br/>
            <a:r>
              <a:t>created_dat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44383" y="1234440"/>
            <a:ext cx="315468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A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644383" y="1234440"/>
            <a:ext cx="64008" cy="1600200"/>
          </a:xfrm>
          <a:prstGeom prst="rect">
            <a:avLst/>
          </a:prstGeom>
          <a:solidFill>
            <a:srgbClr val="825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27263" y="1362456"/>
            <a:ext cx="2834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11B35"/>
                </a:solidFill>
                <a:latin typeface="Aptos"/>
              </a:defRPr>
            </a:pPr>
            <a:r>
              <a:t>comments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27263" y="1764792"/>
            <a:ext cx="2834640" cy="9784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80" b="0">
                <a:solidFill>
                  <a:srgbClr val="232B3C"/>
                </a:solidFill>
                <a:latin typeface="Aptos"/>
              </a:defRPr>
            </a:pPr>
            <a:r>
              <a:t>PK id</a:t>
            </a:r>
            <a:br/>
            <a:r>
              <a:t>comment_text</a:t>
            </a:r>
            <a:br/>
            <a:r>
              <a:t>FK user_id</a:t>
            </a:r>
            <a:br/>
            <a:r>
              <a:t>FK photo_id</a:t>
            </a:r>
            <a:br/>
            <a:r>
              <a:t>created_at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246120"/>
            <a:ext cx="315468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A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3246120"/>
            <a:ext cx="64008" cy="1600200"/>
          </a:xfrm>
          <a:prstGeom prst="rect">
            <a:avLst/>
          </a:prstGeom>
          <a:solidFill>
            <a:srgbClr val="E146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3374136"/>
            <a:ext cx="2834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11B35"/>
                </a:solidFill>
                <a:latin typeface="Aptos"/>
              </a:defRPr>
            </a:pPr>
            <a:r>
              <a:t>likes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3776472"/>
            <a:ext cx="2834640" cy="9784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80" b="0">
                <a:solidFill>
                  <a:srgbClr val="232B3C"/>
                </a:solidFill>
                <a:latin typeface="Aptos"/>
              </a:defRPr>
            </a:pPr>
            <a:r>
              <a:t>PK/FK user_id</a:t>
            </a:r>
            <a:br/>
            <a:r>
              <a:t>PK/FK photo_id</a:t>
            </a:r>
            <a:br/>
            <a:r>
              <a:t>created_at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096512" y="3246120"/>
            <a:ext cx="315468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A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096512" y="3246120"/>
            <a:ext cx="64008" cy="1600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79392" y="3374136"/>
            <a:ext cx="2834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11B35"/>
                </a:solidFill>
                <a:latin typeface="Aptos"/>
              </a:defRPr>
            </a:pPr>
            <a:r>
              <a:t>follows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79392" y="3776472"/>
            <a:ext cx="2834640" cy="9784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80" b="0">
                <a:solidFill>
                  <a:srgbClr val="232B3C"/>
                </a:solidFill>
                <a:latin typeface="Aptos"/>
              </a:defRPr>
            </a:pPr>
            <a:r>
              <a:t>PK/FK follower_id</a:t>
            </a:r>
            <a:br/>
            <a:r>
              <a:t>PK/FK followee_id</a:t>
            </a:r>
            <a:br/>
            <a:r>
              <a:t>created_at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644383" y="3246120"/>
            <a:ext cx="315468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A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644383" y="3246120"/>
            <a:ext cx="64008" cy="1600200"/>
          </a:xfrm>
          <a:prstGeom prst="rect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27263" y="3374136"/>
            <a:ext cx="2834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11B35"/>
                </a:solidFill>
                <a:latin typeface="Aptos"/>
              </a:defRPr>
            </a:pPr>
            <a:r>
              <a:t>tags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27263" y="3776472"/>
            <a:ext cx="2834640" cy="9784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80" b="0">
                <a:solidFill>
                  <a:srgbClr val="232B3C"/>
                </a:solidFill>
                <a:latin typeface="Aptos"/>
              </a:defRPr>
            </a:pPr>
            <a:r>
              <a:t>PK id</a:t>
            </a:r>
            <a:br/>
            <a:r>
              <a:t>tag_name UNIQUE</a:t>
            </a:r>
            <a:br/>
            <a:r>
              <a:t>created_at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096512" y="5074920"/>
            <a:ext cx="31546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A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096512" y="5074920"/>
            <a:ext cx="64008" cy="123444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79392" y="5202936"/>
            <a:ext cx="2834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11B35"/>
                </a:solidFill>
                <a:latin typeface="Aptos"/>
              </a:defRPr>
            </a:pPr>
            <a:r>
              <a:t>photo_tags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79392" y="5605272"/>
            <a:ext cx="2834640" cy="6126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80" b="0">
                <a:solidFill>
                  <a:srgbClr val="232B3C"/>
                </a:solidFill>
                <a:latin typeface="Aptos"/>
              </a:defRPr>
            </a:pPr>
            <a:r>
              <a:t>PK/FK photo_id</a:t>
            </a:r>
            <a:br/>
            <a:r>
              <a:t>PK/FK tag_id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6291072"/>
            <a:ext cx="10515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657084"/>
                </a:solidFill>
                <a:latin typeface="Aptos"/>
              </a:defRPr>
            </a:pPr>
            <a:r>
              <a:t>Design highlights: composite primary keys prevent duplicate likes/follows and the photo_tags table resolves the many-to-many photo ↔ tag relationship.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81360" y="6473952"/>
            <a:ext cx="777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57084"/>
                </a:solidFill>
                <a:latin typeface="Aptos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11B35"/>
                </a:solidFill>
                <a:latin typeface="Aptos Display"/>
              </a:defRPr>
            </a:pPr>
            <a:r>
              <a:t>Data Footprint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86384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57084"/>
                </a:solidFill>
                <a:latin typeface="Aptos"/>
              </a:defRPr>
            </a:pPr>
            <a:r>
              <a:t>Row counts derived from the INSERT statements in the supplied Instagram Clone SQL file.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14173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5EA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" y="1563624"/>
            <a:ext cx="119786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500" b="1">
                <a:solidFill>
                  <a:srgbClr val="4285F4"/>
                </a:solidFill>
                <a:latin typeface="Aptos"/>
              </a:defRPr>
            </a:pPr>
            <a:r>
              <a:t>100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2093976"/>
            <a:ext cx="119786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50" b="1">
                <a:solidFill>
                  <a:srgbClr val="657084"/>
                </a:solidFill>
                <a:latin typeface="Aptos"/>
              </a:defRPr>
            </a:pPr>
            <a:r>
              <a:t>Users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76272" y="1417320"/>
            <a:ext cx="14173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5EA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6000" y="1563624"/>
            <a:ext cx="119786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500" b="1">
                <a:solidFill>
                  <a:srgbClr val="2DA069"/>
                </a:solidFill>
                <a:latin typeface="Aptos"/>
              </a:defRPr>
            </a:pPr>
            <a:r>
              <a:t>257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2093976"/>
            <a:ext cx="119786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50" b="1">
                <a:solidFill>
                  <a:srgbClr val="657084"/>
                </a:solidFill>
                <a:latin typeface="Aptos"/>
              </a:defRPr>
            </a:pPr>
            <a:r>
              <a:t>Photos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49624" y="1417320"/>
            <a:ext cx="14173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5EA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59352" y="1563624"/>
            <a:ext cx="119786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500" b="1">
                <a:solidFill>
                  <a:srgbClr val="8250DC"/>
                </a:solidFill>
                <a:latin typeface="Aptos"/>
              </a:defRPr>
            </a:pPr>
            <a:r>
              <a:t>7,488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59352" y="2093976"/>
            <a:ext cx="119786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50" b="1">
                <a:solidFill>
                  <a:srgbClr val="657084"/>
                </a:solidFill>
                <a:latin typeface="Aptos"/>
              </a:defRPr>
            </a:pPr>
            <a:r>
              <a:t>Comments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522976" y="1417320"/>
            <a:ext cx="14173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5EA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32704" y="1563624"/>
            <a:ext cx="119786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500" b="1">
                <a:solidFill>
                  <a:srgbClr val="E1467D"/>
                </a:solidFill>
                <a:latin typeface="Aptos"/>
              </a:defRPr>
            </a:pPr>
            <a:r>
              <a:t>8,782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32704" y="2093976"/>
            <a:ext cx="119786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50" b="1">
                <a:solidFill>
                  <a:srgbClr val="657084"/>
                </a:solidFill>
                <a:latin typeface="Aptos"/>
              </a:defRPr>
            </a:pPr>
            <a:r>
              <a:t>Likes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96328" y="1417320"/>
            <a:ext cx="14173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5EA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06056" y="1563624"/>
            <a:ext cx="119786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500" b="1">
                <a:solidFill>
                  <a:srgbClr val="F59E0B"/>
                </a:solidFill>
                <a:latin typeface="Aptos"/>
              </a:defRPr>
            </a:pPr>
            <a:r>
              <a:t>7,623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06056" y="2093976"/>
            <a:ext cx="119786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50" b="1">
                <a:solidFill>
                  <a:srgbClr val="657084"/>
                </a:solidFill>
                <a:latin typeface="Aptos"/>
              </a:defRPr>
            </a:pPr>
            <a:r>
              <a:t>Follows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869680" y="1417320"/>
            <a:ext cx="10515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5EA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79407" y="1563624"/>
            <a:ext cx="83210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500" b="1">
                <a:solidFill>
                  <a:srgbClr val="26A69A"/>
                </a:solidFill>
                <a:latin typeface="Aptos"/>
              </a:defRPr>
            </a:pPr>
            <a:r>
              <a:t>21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79407" y="2093976"/>
            <a:ext cx="832103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50" b="1">
                <a:solidFill>
                  <a:srgbClr val="657084"/>
                </a:solidFill>
                <a:latin typeface="Aptos"/>
              </a:defRPr>
            </a:pPr>
            <a:r>
              <a:t>Tags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131552" y="1417320"/>
            <a:ext cx="15544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5EA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41280" y="1563624"/>
            <a:ext cx="133502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500" b="1">
                <a:solidFill>
                  <a:srgbClr val="4285F4"/>
                </a:solidFill>
                <a:latin typeface="Aptos"/>
              </a:defRPr>
            </a:pPr>
            <a:r>
              <a:t>502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41280" y="2093976"/>
            <a:ext cx="133502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50" b="1">
                <a:solidFill>
                  <a:srgbClr val="657084"/>
                </a:solidFill>
                <a:latin typeface="Aptos"/>
              </a:defRPr>
            </a:pPr>
            <a:r>
              <a:t>Photo–Tag mappings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3246120"/>
            <a:ext cx="539496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A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48640" y="3246120"/>
            <a:ext cx="64008" cy="224028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3374136"/>
            <a:ext cx="5074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11B35"/>
                </a:solidFill>
                <a:latin typeface="Aptos"/>
              </a:defRPr>
            </a:pPr>
            <a:r>
              <a:t>What the data enables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3776472"/>
            <a:ext cx="5074920" cy="1618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232B3C"/>
                </a:solidFill>
                <a:latin typeface="Aptos"/>
              </a:defRPr>
            </a:pPr>
            <a:r>
              <a:t>• User growth / registration patterns</a:t>
            </a:r>
            <a:br/>
            <a:r>
              <a:t>• Content creation activity</a:t>
            </a:r>
            <a:br/>
            <a:r>
              <a:t>• Engagement measurement through likes and comments</a:t>
            </a:r>
            <a:br/>
            <a:r>
              <a:t>• Social graph analysis through follows</a:t>
            </a:r>
            <a:br/>
            <a:r>
              <a:t>• Hashtag usage and content discovery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17920" y="3246120"/>
            <a:ext cx="539496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A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17920" y="3246120"/>
            <a:ext cx="64008" cy="2240280"/>
          </a:xfrm>
          <a:prstGeom prst="rect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3374136"/>
            <a:ext cx="5074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11B35"/>
                </a:solidFill>
                <a:latin typeface="Aptos"/>
              </a:defRPr>
            </a:pPr>
            <a:r>
              <a:t>Data modeling choices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3776472"/>
            <a:ext cx="5074920" cy="1618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232B3C"/>
                </a:solidFill>
                <a:latin typeface="Aptos"/>
              </a:defRPr>
            </a:pPr>
            <a:r>
              <a:t>• Foreign keys enforce entity relationships</a:t>
            </a:r>
            <a:br/>
            <a:r>
              <a:t>• Composite keys avoid duplicate interactions</a:t>
            </a:r>
            <a:br/>
            <a:r>
              <a:t>• UNIQUE tag names improve consistency</a:t>
            </a:r>
            <a:br/>
            <a:r>
              <a:t>• Junction table supports many-to-many tagging</a:t>
            </a:r>
            <a:br/>
            <a:r>
              <a:t>• Timestamps support temporal analysis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81360" y="6473952"/>
            <a:ext cx="777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57084"/>
                </a:solidFill>
                <a:latin typeface="Aptos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146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11B35"/>
                </a:solidFill>
                <a:latin typeface="Aptos Display"/>
              </a:defRPr>
            </a:pPr>
            <a:r>
              <a:t>SQL Business Challenges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86384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57084"/>
                </a:solidFill>
                <a:latin typeface="Aptos"/>
              </a:defRPr>
            </a:pPr>
            <a:r>
              <a:t>The second SQL file converts the schema into practical analytical questions.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234440"/>
            <a:ext cx="525780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A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234440"/>
            <a:ext cx="64008" cy="128016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362456"/>
            <a:ext cx="4937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111B35"/>
                </a:solidFill>
                <a:latin typeface="Aptos"/>
              </a:defRPr>
            </a:pPr>
            <a:r>
              <a:t>User lifecycle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64792"/>
            <a:ext cx="4937760" cy="65836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30" b="0">
                <a:solidFill>
                  <a:srgbClr val="232B3C"/>
                </a:solidFill>
                <a:latin typeface="Aptos"/>
              </a:defRPr>
            </a:pPr>
            <a:r>
              <a:t>Find the 5 oldest users and users who never posted a photo.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234440"/>
            <a:ext cx="525780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A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72200" y="1234440"/>
            <a:ext cx="64008" cy="1280160"/>
          </a:xfrm>
          <a:prstGeom prst="rect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362456"/>
            <a:ext cx="4937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111B35"/>
                </a:solidFill>
                <a:latin typeface="Aptos"/>
              </a:defRPr>
            </a:pPr>
            <a:r>
              <a:t>Registration timing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1764792"/>
            <a:ext cx="4937760" cy="65836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30" b="0">
                <a:solidFill>
                  <a:srgbClr val="232B3C"/>
                </a:solidFill>
                <a:latin typeface="Aptos"/>
              </a:defRPr>
            </a:pPr>
            <a:r>
              <a:t>Identify the days of the week with the highest number of registrations.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788920"/>
            <a:ext cx="525780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A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2788920"/>
            <a:ext cx="64008" cy="1280160"/>
          </a:xfrm>
          <a:prstGeom prst="rect">
            <a:avLst/>
          </a:prstGeom>
          <a:solidFill>
            <a:srgbClr val="E146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2916936"/>
            <a:ext cx="4937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111B35"/>
                </a:solidFill>
                <a:latin typeface="Aptos"/>
              </a:defRPr>
            </a:pPr>
            <a:r>
              <a:t>Content performance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319272"/>
            <a:ext cx="4937760" cy="65836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30" b="0">
                <a:solidFill>
                  <a:srgbClr val="232B3C"/>
                </a:solidFill>
                <a:latin typeface="Aptos"/>
              </a:defRPr>
            </a:pPr>
            <a:r>
              <a:t>Find the photo with the highest number of likes and rank users by posts.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2788920"/>
            <a:ext cx="525780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A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72200" y="2788920"/>
            <a:ext cx="64008" cy="12801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2916936"/>
            <a:ext cx="4937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111B35"/>
                </a:solidFill>
                <a:latin typeface="Aptos"/>
              </a:defRPr>
            </a:pPr>
            <a:r>
              <a:t>Posting behavior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3319272"/>
            <a:ext cx="4937760" cy="65836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30" b="0">
                <a:solidFill>
                  <a:srgbClr val="232B3C"/>
                </a:solidFill>
                <a:latin typeface="Aptos"/>
              </a:defRPr>
            </a:pPr>
            <a:r>
              <a:t>Calculate average posts per user and total users who have posted.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343400"/>
            <a:ext cx="525780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A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4343400"/>
            <a:ext cx="64008" cy="1280160"/>
          </a:xfrm>
          <a:prstGeom prst="rect">
            <a:avLst/>
          </a:prstGeom>
          <a:solidFill>
            <a:srgbClr val="825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4471416"/>
            <a:ext cx="4937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111B35"/>
                </a:solidFill>
                <a:latin typeface="Aptos"/>
              </a:defRPr>
            </a:pPr>
            <a:r>
              <a:t>Hashtag strategy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873752"/>
            <a:ext cx="4937760" cy="65836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30" b="0">
                <a:solidFill>
                  <a:srgbClr val="232B3C"/>
                </a:solidFill>
                <a:latin typeface="Aptos"/>
              </a:defRPr>
            </a:pPr>
            <a:r>
              <a:t>Identify the most commonly used hashtags.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72200" y="4343400"/>
            <a:ext cx="525780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A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72200" y="4343400"/>
            <a:ext cx="64008" cy="1280160"/>
          </a:xfrm>
          <a:prstGeom prst="rect">
            <a:avLst/>
          </a:prstGeom>
          <a:solidFill>
            <a:srgbClr val="2DA0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55080" y="4471416"/>
            <a:ext cx="4937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111B35"/>
                </a:solidFill>
                <a:latin typeface="Aptos"/>
              </a:defRPr>
            </a:pPr>
            <a:r>
              <a:t>Behavior anomalies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5080" y="4873752"/>
            <a:ext cx="4937760" cy="65836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30" b="0">
                <a:solidFill>
                  <a:srgbClr val="232B3C"/>
                </a:solidFill>
                <a:latin typeface="Aptos"/>
              </a:defRPr>
            </a:pPr>
            <a:r>
              <a:t>Find users who liked every photo and users who never commented.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81360" y="6473952"/>
            <a:ext cx="777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57084"/>
                </a:solidFill>
                <a:latin typeface="Aptos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11B35"/>
                </a:solidFill>
                <a:latin typeface="Aptos Display"/>
              </a:defRPr>
            </a:pPr>
            <a:r>
              <a:t>Query Showcase — User &amp; Registration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86384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57084"/>
                </a:solidFill>
                <a:latin typeface="Aptos"/>
              </a:defRPr>
            </a:pPr>
            <a:r>
              <a:t>Simple queries answer direct business questions with clean aggregation and date functions.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234440"/>
            <a:ext cx="5532120" cy="2011680"/>
          </a:xfrm>
          <a:prstGeom prst="roundRect">
            <a:avLst/>
          </a:prstGeom>
          <a:solidFill>
            <a:srgbClr val="191E2A"/>
          </a:solidFill>
          <a:ln>
            <a:solidFill>
              <a:srgbClr val="343C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344168"/>
            <a:ext cx="516635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B4C0D7"/>
                </a:solidFill>
                <a:latin typeface="Aptos"/>
              </a:defRPr>
            </a:pPr>
            <a:r>
              <a:t>01  OLDEST USERS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1645920"/>
            <a:ext cx="5148072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19">
                <a:solidFill>
                  <a:srgbClr val="EBF0FA"/>
                </a:solidFill>
                <a:latin typeface="Consolas"/>
              </a:defRPr>
            </a:pPr>
            <a:r>
              <a:t>-- 5 oldest users</a:t>
            </a:r>
            <a:br/>
            <a:r>
              <a:t>SELECT *</a:t>
            </a:r>
            <a:br/>
            <a:r>
              <a:t>FROM users</a:t>
            </a:r>
            <a:br/>
            <a:r>
              <a:t>ORDER BY created_at</a:t>
            </a:r>
            <a:br/>
            <a:r>
              <a:t>LIMIT 5;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234440"/>
            <a:ext cx="5349240" cy="2011680"/>
          </a:xfrm>
          <a:prstGeom prst="roundRect">
            <a:avLst/>
          </a:prstGeom>
          <a:solidFill>
            <a:srgbClr val="191E2A"/>
          </a:solidFill>
          <a:ln>
            <a:solidFill>
              <a:srgbClr val="343C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64807" y="1344168"/>
            <a:ext cx="498347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B4C0D7"/>
                </a:solidFill>
                <a:latin typeface="Aptos"/>
              </a:defRPr>
            </a:pPr>
            <a:r>
              <a:t>02  REGISTRATION TIMING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64807" y="1645920"/>
            <a:ext cx="4965192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19">
                <a:solidFill>
                  <a:srgbClr val="EBF0FA"/>
                </a:solidFill>
                <a:latin typeface="Consolas"/>
              </a:defRPr>
            </a:pPr>
            <a:r>
              <a:t>-- registrations by weekday</a:t>
            </a:r>
            <a:br/>
            <a:r>
              <a:t>SELECT DAYNAME(created_at) AS day,</a:t>
            </a:r>
            <a:br/>
            <a:r>
              <a:t>       COUNT(*) AS total</a:t>
            </a:r>
            <a:br/>
            <a:r>
              <a:t>FROM users</a:t>
            </a:r>
            <a:br/>
            <a:r>
              <a:t>GROUP BY day</a:t>
            </a:r>
            <a:br/>
            <a:r>
              <a:t>ORDER BY total DESC</a:t>
            </a:r>
            <a:br/>
            <a:r>
              <a:t>LIMIT 2;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566160"/>
            <a:ext cx="1106424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A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566160"/>
            <a:ext cx="64008" cy="1600200"/>
          </a:xfrm>
          <a:prstGeom prst="rect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694176"/>
            <a:ext cx="10744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11B35"/>
                </a:solidFill>
                <a:latin typeface="Aptos"/>
              </a:defRPr>
            </a:pPr>
            <a:r>
              <a:t>SQL techniques demonstrated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096511"/>
            <a:ext cx="10744200" cy="9784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232B3C"/>
                </a:solidFill>
                <a:latin typeface="Aptos"/>
              </a:defRPr>
            </a:pPr>
            <a:r>
              <a:t>ORDER BY + LIMIT for top-N retrieval  •  DAYNAME() for time-based analysis  •  GROUP BY for categorical aggregation  •  COUNT() for business metrics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5532120"/>
            <a:ext cx="108813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232B3C"/>
                </a:solidFill>
                <a:latin typeface="Aptos"/>
              </a:defRPr>
            </a:pPr>
            <a:r>
              <a:t>Business use: identify long-standing users and understand when new users are most likely to register so campaigns can be scheduled around observed activity.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777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57084"/>
                </a:solidFill>
                <a:latin typeface="Aptos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825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11B35"/>
                </a:solidFill>
                <a:latin typeface="Aptos Display"/>
              </a:defRPr>
            </a:pPr>
            <a:r>
              <a:t>Query Showcase — Engagement &amp; Content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86384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57084"/>
                </a:solidFill>
                <a:latin typeface="Aptos"/>
              </a:defRPr>
            </a:pPr>
            <a:r>
              <a:t>Joins and aggregation connect content with the users and interactions behind it.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234440"/>
            <a:ext cx="5532120" cy="2331720"/>
          </a:xfrm>
          <a:prstGeom prst="roundRect">
            <a:avLst/>
          </a:prstGeom>
          <a:solidFill>
            <a:srgbClr val="191E2A"/>
          </a:solidFill>
          <a:ln>
            <a:solidFill>
              <a:srgbClr val="343C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344168"/>
            <a:ext cx="516635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B4C0D7"/>
                </a:solidFill>
                <a:latin typeface="Aptos"/>
              </a:defRPr>
            </a:pPr>
            <a:r>
              <a:t>03  TOP-PERFORMING PHOTO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1645920"/>
            <a:ext cx="5148072" cy="1828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19">
                <a:solidFill>
                  <a:srgbClr val="EBF0FA"/>
                </a:solidFill>
                <a:latin typeface="Consolas"/>
              </a:defRPr>
            </a:pPr>
            <a:r>
              <a:t>-- photo with the most likes</a:t>
            </a:r>
            <a:br/>
            <a:r>
              <a:t>SELECT users.username,</a:t>
            </a:r>
            <a:br/>
            <a:r>
              <a:t>       photos.id,</a:t>
            </a:r>
            <a:br/>
            <a:r>
              <a:t>       photos.image_url,</a:t>
            </a:r>
            <a:br/>
            <a:r>
              <a:t>       COUNT(*) AS total_likes</a:t>
            </a:r>
            <a:br/>
            <a:r>
              <a:t>FROM likes</a:t>
            </a:r>
            <a:br/>
            <a:r>
              <a:t>JOIN photos ON photos.id = likes.photo_id</a:t>
            </a:r>
            <a:br/>
            <a:r>
              <a:t>JOIN users ON users.id = photos.user_id</a:t>
            </a:r>
            <a:br/>
            <a:r>
              <a:t>GROUP BY photos.id</a:t>
            </a:r>
            <a:br/>
            <a:r>
              <a:t>ORDER BY total_likes DESC</a:t>
            </a:r>
            <a:br/>
            <a:r>
              <a:t>LIMIT 1;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234440"/>
            <a:ext cx="5349240" cy="2331720"/>
          </a:xfrm>
          <a:prstGeom prst="roundRect">
            <a:avLst/>
          </a:prstGeom>
          <a:solidFill>
            <a:srgbClr val="191E2A"/>
          </a:solidFill>
          <a:ln>
            <a:solidFill>
              <a:srgbClr val="343C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64807" y="1344168"/>
            <a:ext cx="498347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B4C0D7"/>
                </a:solidFill>
                <a:latin typeface="Aptos"/>
              </a:defRPr>
            </a:pPr>
            <a:r>
              <a:t>04  AVERAGE POSTING RATE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64807" y="1645920"/>
            <a:ext cx="4965192" cy="1828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19">
                <a:solidFill>
                  <a:srgbClr val="EBF0FA"/>
                </a:solidFill>
                <a:latin typeface="Consolas"/>
              </a:defRPr>
            </a:pPr>
            <a:r>
              <a:t>-- average posts per user</a:t>
            </a:r>
            <a:br/>
            <a:r>
              <a:t>SELECT ROUND(</a:t>
            </a:r>
            <a:br/>
            <a:r>
              <a:t>  (SELECT COUNT(*) FROM photos) /</a:t>
            </a:r>
            <a:br/>
            <a:r>
              <a:t>  (SELECT COUNT(*) FROM users), 2</a:t>
            </a:r>
            <a:br/>
            <a:r>
              <a:t>);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886200"/>
            <a:ext cx="1106424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A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886200"/>
            <a:ext cx="64008" cy="1600200"/>
          </a:xfrm>
          <a:prstGeom prst="rect">
            <a:avLst/>
          </a:prstGeom>
          <a:solidFill>
            <a:srgbClr val="E146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014215"/>
            <a:ext cx="10744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11B35"/>
                </a:solidFill>
                <a:latin typeface="Aptos"/>
              </a:defRPr>
            </a:pPr>
            <a:r>
              <a:t>Why these queries matter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416552"/>
            <a:ext cx="10744200" cy="9784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50" b="0">
                <a:solidFill>
                  <a:srgbClr val="232B3C"/>
                </a:solidFill>
                <a:latin typeface="Aptos"/>
              </a:defRPr>
            </a:pPr>
            <a:r>
              <a:t>The first query combines three entities to connect engagement back to the content owner. The second creates a high-level platform activity KPI from two table-level counts.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81360" y="6473952"/>
            <a:ext cx="777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57084"/>
                </a:solidFill>
                <a:latin typeface="Aptos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11B35"/>
                </a:solidFill>
                <a:latin typeface="Aptos Display"/>
              </a:defRPr>
            </a:pPr>
            <a:r>
              <a:t>Advanced SQL — Behavior &amp; Anomaly Detection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86384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57084"/>
                </a:solidFill>
                <a:latin typeface="Aptos"/>
              </a:defRPr>
            </a:pPr>
            <a:r>
              <a:t>The project also includes relational logic for identifying unusual interaction patterns.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234440"/>
            <a:ext cx="5532120" cy="2743200"/>
          </a:xfrm>
          <a:prstGeom prst="roundRect">
            <a:avLst/>
          </a:prstGeom>
          <a:solidFill>
            <a:srgbClr val="191E2A"/>
          </a:solidFill>
          <a:ln>
            <a:solidFill>
              <a:srgbClr val="343C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344168"/>
            <a:ext cx="516635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B4C0D7"/>
                </a:solidFill>
                <a:latin typeface="Aptos"/>
              </a:defRPr>
            </a:pPr>
            <a:r>
              <a:t>05  ALL-PHOTO LIKERS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1645920"/>
            <a:ext cx="5148072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19">
                <a:solidFill>
                  <a:srgbClr val="EBF0FA"/>
                </a:solidFill>
                <a:latin typeface="Consolas"/>
              </a:defRPr>
            </a:pPr>
            <a:r>
              <a:t>-- users who liked every photo</a:t>
            </a:r>
            <a:br/>
            <a:r>
              <a:t>SELECT users.id, username,</a:t>
            </a:r>
            <a:br/>
            <a:r>
              <a:t>       COUNT(users.id) AS total_likes_by_user</a:t>
            </a:r>
            <a:br/>
            <a:r>
              <a:t>FROM users</a:t>
            </a:r>
            <a:br/>
            <a:r>
              <a:t>JOIN likes ON users.id = likes.user_id</a:t>
            </a:r>
            <a:br/>
            <a:r>
              <a:t>GROUP BY users.id</a:t>
            </a:r>
            <a:br/>
            <a:r>
              <a:t>HAVING total_likes_by_user =</a:t>
            </a:r>
            <a:br/>
            <a:r>
              <a:t>       (SELECT COUNT(*) FROM photos);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234440"/>
            <a:ext cx="5349240" cy="2743200"/>
          </a:xfrm>
          <a:prstGeom prst="roundRect">
            <a:avLst/>
          </a:prstGeom>
          <a:solidFill>
            <a:srgbClr val="191E2A"/>
          </a:solidFill>
          <a:ln>
            <a:solidFill>
              <a:srgbClr val="343C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64807" y="1344168"/>
            <a:ext cx="498347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B4C0D7"/>
                </a:solidFill>
                <a:latin typeface="Aptos"/>
              </a:defRPr>
            </a:pPr>
            <a:r>
              <a:t>06  NEVER-COMMENTED USERS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64807" y="1645920"/>
            <a:ext cx="4965192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19">
                <a:solidFill>
                  <a:srgbClr val="EBF0FA"/>
                </a:solidFill>
                <a:latin typeface="Consolas"/>
              </a:defRPr>
            </a:pPr>
            <a:r>
              <a:t>-- users who never commented</a:t>
            </a:r>
            <a:br/>
            <a:r>
              <a:t>SELECT username, comment_text</a:t>
            </a:r>
            <a:br/>
            <a:r>
              <a:t>FROM users</a:t>
            </a:r>
            <a:br/>
            <a:r>
              <a:t>LEFT JOIN comments</a:t>
            </a:r>
            <a:br/>
            <a:r>
              <a:t>  ON users.id = comments.user_id</a:t>
            </a:r>
            <a:br/>
            <a:r>
              <a:t>GROUP BY users.id</a:t>
            </a:r>
            <a:br/>
            <a:r>
              <a:t>HAVING comment_text IS NULL;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343400"/>
            <a:ext cx="1106424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A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4343400"/>
            <a:ext cx="64008" cy="141732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471416"/>
            <a:ext cx="10744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11B35"/>
                </a:solidFill>
                <a:latin typeface="Aptos"/>
              </a:defRPr>
            </a:pPr>
            <a:r>
              <a:t>Advanced concepts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873752"/>
            <a:ext cx="10744200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20" b="0">
                <a:solidFill>
                  <a:srgbClr val="232B3C"/>
                </a:solidFill>
                <a:latin typeface="Aptos"/>
              </a:defRPr>
            </a:pPr>
            <a:r>
              <a:t>LEFT JOIN for missing activity  •  HAVING for post-aggregation filtering  •  Scalar subquery for comparison against total photos  •  Derived tables for percentage calculations in the mega challenges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81360" y="6473952"/>
            <a:ext cx="777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57084"/>
                </a:solidFill>
                <a:latin typeface="Aptos"/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11B35"/>
                </a:solidFill>
                <a:latin typeface="Aptos Display"/>
              </a:defRPr>
            </a:pPr>
            <a:r>
              <a:t>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86384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57084"/>
                </a:solidFill>
                <a:latin typeface="Aptos"/>
              </a:defRPr>
            </a:pPr>
            <a:r>
              <a:t>A portfolio project demonstrating both database design and analytical SQL thinking.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325880"/>
            <a:ext cx="525780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A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325880"/>
            <a:ext cx="64008" cy="16002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453895"/>
            <a:ext cx="4937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11B35"/>
                </a:solidFill>
                <a:latin typeface="Aptos"/>
              </a:defRPr>
            </a:pPr>
            <a:r>
              <a:t>Database design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856231"/>
            <a:ext cx="4937760" cy="9784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232B3C"/>
                </a:solidFill>
                <a:latin typeface="Aptos"/>
              </a:defRPr>
            </a:pPr>
            <a:r>
              <a:t>Built a connected relational model with PKs, FKs, composite keys and a junction table.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25880"/>
            <a:ext cx="525780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A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325880"/>
            <a:ext cx="64008" cy="1600200"/>
          </a:xfrm>
          <a:prstGeom prst="rect">
            <a:avLst/>
          </a:prstGeom>
          <a:solidFill>
            <a:srgbClr val="825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453895"/>
            <a:ext cx="4937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11B35"/>
                </a:solidFill>
                <a:latin typeface="Aptos"/>
              </a:defRPr>
            </a:pPr>
            <a:r>
              <a:t>SQL analytics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856231"/>
            <a:ext cx="4937760" cy="9784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232B3C"/>
                </a:solidFill>
                <a:latin typeface="Aptos"/>
              </a:defRPr>
            </a:pPr>
            <a:r>
              <a:t>Used joins, aggregations, subqueries, HAVING and date functions to answer business questions.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3291839"/>
            <a:ext cx="525780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A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4360" y="3291839"/>
            <a:ext cx="64008" cy="1600200"/>
          </a:xfrm>
          <a:prstGeom prst="rect">
            <a:avLst/>
          </a:prstGeom>
          <a:solidFill>
            <a:srgbClr val="E146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419856"/>
            <a:ext cx="4937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11B35"/>
                </a:solidFill>
                <a:latin typeface="Aptos"/>
              </a:defRPr>
            </a:pPr>
            <a:r>
              <a:t>Product thinking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822191"/>
            <a:ext cx="4937760" cy="9784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232B3C"/>
                </a:solidFill>
                <a:latin typeface="Aptos"/>
              </a:defRPr>
            </a:pPr>
            <a:r>
              <a:t>Translated social-media use cases into measurable questions around users, content and engagement.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291839"/>
            <a:ext cx="525780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A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3291839"/>
            <a:ext cx="64008" cy="1600200"/>
          </a:xfrm>
          <a:prstGeom prst="rect">
            <a:avLst/>
          </a:prstGeom>
          <a:solidFill>
            <a:srgbClr val="2DA0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3419856"/>
            <a:ext cx="4937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11B35"/>
                </a:solidFill>
                <a:latin typeface="Aptos"/>
              </a:defRPr>
            </a:pPr>
            <a:r>
              <a:t>Scalable foundation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822191"/>
            <a:ext cx="4937760" cy="9784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232B3C"/>
                </a:solidFill>
                <a:latin typeface="Aptos"/>
              </a:defRPr>
            </a:pPr>
            <a:r>
              <a:t>The schema separates entities cleanly, making future analytics and application features easier to extend.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715000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111B35"/>
                </a:solidFill>
                <a:latin typeface="Aptos"/>
              </a:defRPr>
            </a:pPr>
            <a:r>
              <a:t>Project theme: DESIGN → CONNECT → ANALYZE → INSIGHT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144768"/>
            <a:ext cx="10881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50" b="0">
                <a:solidFill>
                  <a:srgbClr val="657084"/>
                </a:solidFill>
                <a:latin typeface="Aptos"/>
              </a:defRPr>
            </a:pPr>
            <a:r>
              <a:t>Instagram Clone Database | MySQL SQL Project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81360" y="6473952"/>
            <a:ext cx="777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57084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